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Liter" panose="020B0604020202020204" charset="0"/>
      <p:regular r:id="rId8"/>
    </p:embeddedFont>
    <p:embeddedFont>
      <p:font typeface="Quattrocento Sans" panose="020B0502050000020003" pitchFamily="34" charset="0"/>
      <p:regular r:id="rId9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40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Motivo 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1" name="Logo UD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8" y="350000"/>
            <a:ext cx="3200400" cy="61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385763" y="1443038"/>
            <a:ext cx="3219450" cy="352425"/>
          </a:xfrm>
          <a:custGeom>
            <a:avLst/>
            <a:gdLst/>
            <a:ahLst/>
            <a:cxnLst/>
            <a:rect l="l" t="t" r="r" b="b"/>
            <a:pathLst>
              <a:path w="3219450" h="352425">
                <a:moveTo>
                  <a:pt x="176213" y="0"/>
                </a:moveTo>
                <a:lnTo>
                  <a:pt x="3043238" y="0"/>
                </a:lnTo>
                <a:cubicBezTo>
                  <a:pt x="3140492" y="0"/>
                  <a:pt x="3219450" y="78958"/>
                  <a:pt x="3219450" y="176213"/>
                </a:cubicBezTo>
                <a:lnTo>
                  <a:pt x="3219450" y="176213"/>
                </a:lnTo>
                <a:cubicBezTo>
                  <a:pt x="3219450" y="273467"/>
                  <a:pt x="3140492" y="352425"/>
                  <a:pt x="304323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 w="12700">
            <a:solidFill>
              <a:srgbClr val="2596B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545306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833438" y="1524000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PRESENTACIÓN ACTUALIZADA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5262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 &amp; Gemini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96227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596B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Ecosistema de IA de Google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5718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la investigación al aprendizaje activo con las nuevas herramientas de estudio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537210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571873" y="0"/>
                </a:lnTo>
                <a:cubicBezTo>
                  <a:pt x="3635000" y="0"/>
                  <a:pt x="3686175" y="51175"/>
                  <a:pt x="3686175" y="114302"/>
                </a:cubicBezTo>
                <a:lnTo>
                  <a:pt x="3686175" y="990598"/>
                </a:lnTo>
                <a:cubicBezTo>
                  <a:pt x="3686175" y="1053725"/>
                  <a:pt x="3635000" y="1104900"/>
                  <a:pt x="357187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000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953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923925" y="552450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Plataforma Completa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" y="58674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no es solo un "chat con PDFs" → es una plataforma de aprendizaje integral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60800" y="537210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571873" y="0"/>
                </a:lnTo>
                <a:cubicBezTo>
                  <a:pt x="3635000" y="0"/>
                  <a:pt x="3686175" y="51175"/>
                  <a:pt x="3686175" y="114302"/>
                </a:cubicBezTo>
                <a:lnTo>
                  <a:pt x="3686175" y="990598"/>
                </a:lnTo>
                <a:cubicBezTo>
                  <a:pt x="3686175" y="1053725"/>
                  <a:pt x="3635000" y="1104900"/>
                  <a:pt x="357187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426080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445606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4784675" y="552450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Potenciado por Gemini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32250" y="58674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multimodales de última generación procesando todo el contenido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21625" y="5372100"/>
            <a:ext cx="3686175" cy="1104900"/>
          </a:xfrm>
          <a:custGeom>
            <a:avLst/>
            <a:gdLst/>
            <a:ahLst/>
            <a:cxnLst/>
            <a:rect l="l" t="t" r="r" b="b"/>
            <a:pathLst>
              <a:path w="3686175" h="1104900">
                <a:moveTo>
                  <a:pt x="38100" y="0"/>
                </a:moveTo>
                <a:lnTo>
                  <a:pt x="3571873" y="0"/>
                </a:lnTo>
                <a:cubicBezTo>
                  <a:pt x="3635000" y="0"/>
                  <a:pt x="3686175" y="51175"/>
                  <a:pt x="3686175" y="114302"/>
                </a:cubicBezTo>
                <a:lnTo>
                  <a:pt x="3686175" y="990598"/>
                </a:lnTo>
                <a:cubicBezTo>
                  <a:pt x="3686175" y="1053725"/>
                  <a:pt x="3635000" y="1104900"/>
                  <a:pt x="357187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8121625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8316888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621" y="25598"/>
                </a:moveTo>
                <a:cubicBezTo>
                  <a:pt x="122448" y="20799"/>
                  <a:pt x="127583" y="17859"/>
                  <a:pt x="133127" y="17859"/>
                </a:cubicBezTo>
                <a:lnTo>
                  <a:pt x="133945" y="17859"/>
                </a:lnTo>
                <a:cubicBezTo>
                  <a:pt x="142168" y="17859"/>
                  <a:pt x="148828" y="24519"/>
                  <a:pt x="148828" y="32742"/>
                </a:cubicBezTo>
                <a:cubicBezTo>
                  <a:pt x="148828" y="40965"/>
                  <a:pt x="142168" y="47625"/>
                  <a:pt x="133945" y="47625"/>
                </a:cubicBezTo>
                <a:lnTo>
                  <a:pt x="106673" y="47625"/>
                </a:lnTo>
                <a:lnTo>
                  <a:pt x="119621" y="25598"/>
                </a:lnTo>
                <a:close/>
                <a:moveTo>
                  <a:pt x="70879" y="25598"/>
                </a:moveTo>
                <a:lnTo>
                  <a:pt x="83827" y="47625"/>
                </a:lnTo>
                <a:lnTo>
                  <a:pt x="56555" y="47625"/>
                </a:lnTo>
                <a:cubicBezTo>
                  <a:pt x="48332" y="47625"/>
                  <a:pt x="41672" y="40965"/>
                  <a:pt x="41672" y="32742"/>
                </a:cubicBezTo>
                <a:cubicBezTo>
                  <a:pt x="41672" y="24519"/>
                  <a:pt x="48332" y="17859"/>
                  <a:pt x="56555" y="17859"/>
                </a:cubicBezTo>
                <a:lnTo>
                  <a:pt x="57373" y="17859"/>
                </a:lnTo>
                <a:cubicBezTo>
                  <a:pt x="62917" y="17859"/>
                  <a:pt x="68089" y="20799"/>
                  <a:pt x="70879" y="25598"/>
                </a:cubicBezTo>
                <a:close/>
                <a:moveTo>
                  <a:pt x="104217" y="16557"/>
                </a:moveTo>
                <a:lnTo>
                  <a:pt x="95250" y="31812"/>
                </a:lnTo>
                <a:lnTo>
                  <a:pt x="86283" y="16557"/>
                </a:lnTo>
                <a:cubicBezTo>
                  <a:pt x="80256" y="6288"/>
                  <a:pt x="69242" y="0"/>
                  <a:pt x="57373" y="0"/>
                </a:cubicBezTo>
                <a:lnTo>
                  <a:pt x="56555" y="0"/>
                </a:lnTo>
                <a:cubicBezTo>
                  <a:pt x="38472" y="0"/>
                  <a:pt x="23812" y="14660"/>
                  <a:pt x="23812" y="32742"/>
                </a:cubicBezTo>
                <a:cubicBezTo>
                  <a:pt x="23812" y="38100"/>
                  <a:pt x="25115" y="43160"/>
                  <a:pt x="27384" y="47625"/>
                </a:cubicBez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lnTo>
                  <a:pt x="0" y="71438"/>
                </a:lnTo>
                <a:cubicBezTo>
                  <a:pt x="0" y="78023"/>
                  <a:pt x="5321" y="83344"/>
                  <a:pt x="11906" y="83344"/>
                </a:cubicBezTo>
                <a:lnTo>
                  <a:pt x="178594" y="83344"/>
                </a:lnTo>
                <a:cubicBezTo>
                  <a:pt x="185179" y="83344"/>
                  <a:pt x="190500" y="78023"/>
                  <a:pt x="190500" y="71438"/>
                </a:cubicBezTo>
                <a:lnTo>
                  <a:pt x="190500" y="59531"/>
                </a:lnTo>
                <a:cubicBezTo>
                  <a:pt x="190500" y="52946"/>
                  <a:pt x="185179" y="47625"/>
                  <a:pt x="178594" y="47625"/>
                </a:cubicBezTo>
                <a:lnTo>
                  <a:pt x="163116" y="47625"/>
                </a:lnTo>
                <a:cubicBezTo>
                  <a:pt x="165385" y="43160"/>
                  <a:pt x="166688" y="38100"/>
                  <a:pt x="166688" y="32742"/>
                </a:cubicBezTo>
                <a:cubicBezTo>
                  <a:pt x="166688" y="14660"/>
                  <a:pt x="152028" y="0"/>
                  <a:pt x="133945" y="0"/>
                </a:cubicBezTo>
                <a:lnTo>
                  <a:pt x="133127" y="0"/>
                </a:lnTo>
                <a:cubicBezTo>
                  <a:pt x="121258" y="0"/>
                  <a:pt x="110244" y="6288"/>
                  <a:pt x="104217" y="16520"/>
                </a:cubicBezTo>
                <a:close/>
                <a:moveTo>
                  <a:pt x="178594" y="101203"/>
                </a:moveTo>
                <a:lnTo>
                  <a:pt x="104180" y="101203"/>
                </a:lnTo>
                <a:lnTo>
                  <a:pt x="104180" y="178594"/>
                </a:lnTo>
                <a:lnTo>
                  <a:pt x="154781" y="178594"/>
                </a:lnTo>
                <a:cubicBezTo>
                  <a:pt x="167915" y="178594"/>
                  <a:pt x="178594" y="167915"/>
                  <a:pt x="178594" y="154781"/>
                </a:cubicBezTo>
                <a:lnTo>
                  <a:pt x="178594" y="101203"/>
                </a:lnTo>
                <a:close/>
                <a:moveTo>
                  <a:pt x="86320" y="101203"/>
                </a:moveTo>
                <a:lnTo>
                  <a:pt x="11906" y="101203"/>
                </a:lnTo>
                <a:lnTo>
                  <a:pt x="11906" y="154781"/>
                </a:lnTo>
                <a:cubicBezTo>
                  <a:pt x="11906" y="167915"/>
                  <a:pt x="22585" y="178594"/>
                  <a:pt x="35719" y="178594"/>
                </a:cubicBezTo>
                <a:lnTo>
                  <a:pt x="86320" y="178594"/>
                </a:lnTo>
                <a:lnTo>
                  <a:pt x="86320" y="101203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8645500" y="552450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Gratuito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93075" y="58674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cuadernos, 50 fuentes por cuaderno, 50 consultas/día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14350" y="60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86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 - El "Studio" de Creación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6200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Novedades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11420475" cy="923925"/>
          </a:xfrm>
          <a:custGeom>
            <a:avLst/>
            <a:gdLst/>
            <a:ahLst/>
            <a:cxnLst/>
            <a:rect l="l" t="t" r="r" b="b"/>
            <a:pathLst>
              <a:path w="11420475" h="923925">
                <a:moveTo>
                  <a:pt x="152401" y="0"/>
                </a:moveTo>
                <a:lnTo>
                  <a:pt x="11268074" y="0"/>
                </a:lnTo>
                <a:cubicBezTo>
                  <a:pt x="11352186" y="0"/>
                  <a:pt x="11420475" y="68289"/>
                  <a:pt x="11420475" y="152401"/>
                </a:cubicBezTo>
                <a:lnTo>
                  <a:pt x="11420475" y="771524"/>
                </a:lnTo>
                <a:cubicBezTo>
                  <a:pt x="11420475" y="855636"/>
                  <a:pt x="11352186" y="923925"/>
                  <a:pt x="11268074" y="923925"/>
                </a:cubicBezTo>
                <a:lnTo>
                  <a:pt x="152401" y="923925"/>
                </a:lnTo>
                <a:cubicBezTo>
                  <a:pt x="68289" y="923925"/>
                  <a:pt x="0" y="855636"/>
                  <a:pt x="0" y="7715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5000"/>
                </a:srgbClr>
              </a:gs>
              <a:gs pos="100000">
                <a:srgbClr val="C9A227">
                  <a:alpha val="5000"/>
                </a:srgbClr>
              </a:gs>
            </a:gsLst>
            <a:lin ang="0" scaled="1"/>
          </a:gradFill>
          <a:ln w="12700">
            <a:solidFill>
              <a:srgbClr val="2596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57213" y="1685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8675" y="1647825"/>
            <a:ext cx="1093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Panel Studio: Transformación Total de Fuentes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028825"/>
            <a:ext cx="1118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Convierte cualquier documento en múltiples formatos de aprendizaje activo. Cada herramienta genera contenido con </a:t>
            </a:r>
            <a:r>
              <a:rPr lang="en-US" sz="1200" b="1" dirty="0">
                <a:solidFill>
                  <a:srgbClr val="C9A227"/>
                </a:solidFill>
                <a:highlight>
                  <a:srgbClr val="C9A227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citas verificables 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tus fuentes originales.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5908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81000" y="2590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5300" y="2724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47675" y="2724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🗺️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7813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Mapas Conceptuales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300" y="31813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interactiva de conexiones entre conceptos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300" y="3676650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228599"/>
                </a:lnTo>
                <a:cubicBezTo>
                  <a:pt x="409575" y="249642"/>
                  <a:pt x="392517" y="266700"/>
                  <a:pt x="3714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5300" y="3676650"/>
            <a:ext cx="4762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7950" y="3676650"/>
            <a:ext cx="1257300" cy="266700"/>
          </a:xfrm>
          <a:custGeom>
            <a:avLst/>
            <a:gdLst/>
            <a:ahLst/>
            <a:cxnLst/>
            <a:rect l="l" t="t" r="r" b="b"/>
            <a:pathLst>
              <a:path w="1257300" h="266700">
                <a:moveTo>
                  <a:pt x="38101" y="0"/>
                </a:moveTo>
                <a:lnTo>
                  <a:pt x="1219199" y="0"/>
                </a:lnTo>
                <a:cubicBezTo>
                  <a:pt x="1240242" y="0"/>
                  <a:pt x="1257300" y="17058"/>
                  <a:pt x="1257300" y="38101"/>
                </a:cubicBezTo>
                <a:lnTo>
                  <a:pt x="1257300" y="228599"/>
                </a:lnTo>
                <a:cubicBezTo>
                  <a:pt x="1257300" y="249642"/>
                  <a:pt x="1240242" y="266700"/>
                  <a:pt x="12191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77950" y="3676650"/>
            <a:ext cx="13239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Nodos expandibles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67075" y="25908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267075" y="2590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381375" y="2724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333750" y="2724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38575" y="27813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Fichas/Flashcards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1375" y="31813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Tarjetas Q&amp;A con explicaciones profundas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1375" y="3676650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228599"/>
                </a:lnTo>
                <a:cubicBezTo>
                  <a:pt x="771525" y="249628"/>
                  <a:pt x="754453" y="266700"/>
                  <a:pt x="733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381375" y="3676650"/>
            <a:ext cx="8382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6644" y="3676650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226644" y="3676650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53150" y="25908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153150" y="2590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267450" y="2724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219825" y="2724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4650" y="27813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Cuestionarios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7450" y="31813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autoevaluativos con feedback detallado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67450" y="3676650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38101" y="0"/>
                </a:moveTo>
                <a:lnTo>
                  <a:pt x="733424" y="0"/>
                </a:lnTo>
                <a:cubicBezTo>
                  <a:pt x="754467" y="0"/>
                  <a:pt x="771525" y="17058"/>
                  <a:pt x="771525" y="38101"/>
                </a:cubicBezTo>
                <a:lnTo>
                  <a:pt x="771525" y="228599"/>
                </a:lnTo>
                <a:cubicBezTo>
                  <a:pt x="771525" y="249628"/>
                  <a:pt x="754453" y="266700"/>
                  <a:pt x="7334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267450" y="3676650"/>
            <a:ext cx="8382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12719" y="3676650"/>
            <a:ext cx="933450" cy="266700"/>
          </a:xfrm>
          <a:custGeom>
            <a:avLst/>
            <a:gdLst/>
            <a:ahLst/>
            <a:cxnLst/>
            <a:rect l="l" t="t" r="r" b="b"/>
            <a:pathLst>
              <a:path w="933450" h="2667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228599"/>
                </a:lnTo>
                <a:cubicBezTo>
                  <a:pt x="933450" y="249642"/>
                  <a:pt x="916392" y="266700"/>
                  <a:pt x="895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7112719" y="3676650"/>
            <a:ext cx="10001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Explicaciones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39225" y="25908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9039225" y="25908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9153525" y="2724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9105900" y="27241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📊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10725" y="27813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Infografías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53525" y="3181350"/>
            <a:ext cx="261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Visualizaciones gráficas de datos clave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153525" y="3467100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228599"/>
                </a:lnTo>
                <a:cubicBezTo>
                  <a:pt x="581025" y="249628"/>
                  <a:pt x="563953" y="266700"/>
                  <a:pt x="5429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9153525" y="3467100"/>
            <a:ext cx="6477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08890" y="3467100"/>
            <a:ext cx="866775" cy="266700"/>
          </a:xfrm>
          <a:custGeom>
            <a:avLst/>
            <a:gdLst/>
            <a:ahLst/>
            <a:cxnLst/>
            <a:rect l="l" t="t" r="r" b="b"/>
            <a:pathLst>
              <a:path w="866775" h="266700">
                <a:moveTo>
                  <a:pt x="38101" y="0"/>
                </a:moveTo>
                <a:lnTo>
                  <a:pt x="828674" y="0"/>
                </a:lnTo>
                <a:cubicBezTo>
                  <a:pt x="849717" y="0"/>
                  <a:pt x="866775" y="17058"/>
                  <a:pt x="866775" y="38101"/>
                </a:cubicBezTo>
                <a:lnTo>
                  <a:pt x="866775" y="228599"/>
                </a:lnTo>
                <a:cubicBezTo>
                  <a:pt x="866775" y="249642"/>
                  <a:pt x="849717" y="266700"/>
                  <a:pt x="828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9808890" y="3467100"/>
            <a:ext cx="933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Descargable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41910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381000" y="4191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495300" y="4324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47675" y="43243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📑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52500" y="43815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Guías de Estudio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95300" y="47815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Resúmenes + glosario + preguntas ensayo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95300" y="5276850"/>
            <a:ext cx="476250" cy="266700"/>
          </a:xfrm>
          <a:custGeom>
            <a:avLst/>
            <a:gdLst/>
            <a:ahLst/>
            <a:cxnLst/>
            <a:rect l="l" t="t" r="r" b="b"/>
            <a:pathLst>
              <a:path w="476250" h="266700">
                <a:moveTo>
                  <a:pt x="38101" y="0"/>
                </a:moveTo>
                <a:lnTo>
                  <a:pt x="438149" y="0"/>
                </a:lnTo>
                <a:cubicBezTo>
                  <a:pt x="459192" y="0"/>
                  <a:pt x="476250" y="17058"/>
                  <a:pt x="476250" y="38101"/>
                </a:cubicBezTo>
                <a:lnTo>
                  <a:pt x="476250" y="228599"/>
                </a:lnTo>
                <a:cubicBezTo>
                  <a:pt x="476250" y="249628"/>
                  <a:pt x="459178" y="266700"/>
                  <a:pt x="4381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95300" y="5276850"/>
            <a:ext cx="5429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49462" y="5276850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38101" y="0"/>
                </a:moveTo>
                <a:lnTo>
                  <a:pt x="847724" y="0"/>
                </a:lnTo>
                <a:cubicBezTo>
                  <a:pt x="868767" y="0"/>
                  <a:pt x="885825" y="17058"/>
                  <a:pt x="885825" y="38101"/>
                </a:cubicBezTo>
                <a:lnTo>
                  <a:pt x="885825" y="228599"/>
                </a:lnTo>
                <a:cubicBezTo>
                  <a:pt x="885825" y="249642"/>
                  <a:pt x="868767" y="266700"/>
                  <a:pt x="8477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1049462" y="5276850"/>
            <a:ext cx="9525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Estructurado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267075" y="41910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1" name="Shape 59"/>
          <p:cNvSpPr/>
          <p:nvPr/>
        </p:nvSpPr>
        <p:spPr>
          <a:xfrm>
            <a:off x="3267075" y="4191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3381375" y="4324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3333750" y="43243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🎙️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838575" y="438150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Overviews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381375" y="4781550"/>
            <a:ext cx="261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Podcasts con 2 voces IA (3 formatos)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381375" y="5067300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3381375" y="5067300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Brief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795564" y="5067300"/>
            <a:ext cx="504825" cy="228600"/>
          </a:xfrm>
          <a:custGeom>
            <a:avLst/>
            <a:gdLst/>
            <a:ahLst/>
            <a:cxnLst/>
            <a:rect l="l" t="t" r="r" b="b"/>
            <a:pathLst>
              <a:path w="504825" h="228600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3795564" y="5067300"/>
            <a:ext cx="5619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Debate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43177" y="5067300"/>
            <a:ext cx="466725" cy="228600"/>
          </a:xfrm>
          <a:custGeom>
            <a:avLst/>
            <a:gdLst/>
            <a:ahLst/>
            <a:cxnLst/>
            <a:rect l="l" t="t" r="r" b="b"/>
            <a:pathLst>
              <a:path w="466725" h="228600">
                <a:moveTo>
                  <a:pt x="38101" y="0"/>
                </a:moveTo>
                <a:lnTo>
                  <a:pt x="428624" y="0"/>
                </a:lnTo>
                <a:cubicBezTo>
                  <a:pt x="449667" y="0"/>
                  <a:pt x="466725" y="17058"/>
                  <a:pt x="466725" y="38101"/>
                </a:cubicBezTo>
                <a:lnTo>
                  <a:pt x="466725" y="190499"/>
                </a:lnTo>
                <a:cubicBezTo>
                  <a:pt x="466725" y="211542"/>
                  <a:pt x="449667" y="228600"/>
                  <a:pt x="4286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343177" y="5067300"/>
            <a:ext cx="5238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Crítica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53150" y="41910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3" name="Shape 71"/>
          <p:cNvSpPr/>
          <p:nvPr/>
        </p:nvSpPr>
        <p:spPr>
          <a:xfrm>
            <a:off x="6153150" y="4191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4" name="Shape 72"/>
          <p:cNvSpPr/>
          <p:nvPr/>
        </p:nvSpPr>
        <p:spPr>
          <a:xfrm>
            <a:off x="6267450" y="4324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5" name="Text 73"/>
          <p:cNvSpPr/>
          <p:nvPr/>
        </p:nvSpPr>
        <p:spPr>
          <a:xfrm>
            <a:off x="6219825" y="43243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724650" y="43815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Overviews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267450" y="47815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 narrados con slides automáticos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67450" y="5276850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228599"/>
                </a:lnTo>
                <a:cubicBezTo>
                  <a:pt x="485775" y="249628"/>
                  <a:pt x="468703" y="266700"/>
                  <a:pt x="447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6267450" y="5276850"/>
            <a:ext cx="5524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832550" y="5276850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6832550" y="5276850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MP4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39225" y="4191000"/>
            <a:ext cx="2771775" cy="1466850"/>
          </a:xfrm>
          <a:custGeom>
            <a:avLst/>
            <a:gdLst/>
            <a:ahLst/>
            <a:cxnLst/>
            <a:rect l="l" t="t" r="r" b="b"/>
            <a:pathLst>
              <a:path w="2771775" h="14668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352553"/>
                </a:lnTo>
                <a:cubicBezTo>
                  <a:pt x="2771775" y="1415678"/>
                  <a:pt x="2720603" y="1466850"/>
                  <a:pt x="265747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3" name="Shape 81"/>
          <p:cNvSpPr/>
          <p:nvPr/>
        </p:nvSpPr>
        <p:spPr>
          <a:xfrm>
            <a:off x="9039225" y="4191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4" name="Shape 82"/>
          <p:cNvSpPr/>
          <p:nvPr/>
        </p:nvSpPr>
        <p:spPr>
          <a:xfrm>
            <a:off x="9153525" y="4324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9105900" y="43243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🖥️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610725" y="43815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y PowerPoint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153525" y="4781550"/>
            <a:ext cx="2619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Hojas de cálculo y presentaciones editables generadas por IA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9153525" y="5276850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9" name="Text 87"/>
          <p:cNvSpPr/>
          <p:nvPr/>
        </p:nvSpPr>
        <p:spPr>
          <a:xfrm>
            <a:off x="9153525" y="5276850"/>
            <a:ext cx="46672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XLSX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9630966" y="5276850"/>
            <a:ext cx="638175" cy="266700"/>
          </a:xfrm>
          <a:custGeom>
            <a:avLst/>
            <a:gdLst/>
            <a:ahLst/>
            <a:cxnLst/>
            <a:rect l="l" t="t" r="r" b="b"/>
            <a:pathLst>
              <a:path w="638175" h="2667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228599"/>
                </a:lnTo>
                <a:cubicBezTo>
                  <a:pt x="638175" y="249628"/>
                  <a:pt x="621103" y="266700"/>
                  <a:pt x="600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9630966" y="5276850"/>
            <a:ext cx="7048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PPTX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85763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352424"/>
                </a:lnTo>
                <a:cubicBezTo>
                  <a:pt x="11420475" y="415551"/>
                  <a:pt x="11369301" y="466725"/>
                  <a:pt x="1130617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227">
                  <a:alpha val="10000"/>
                </a:srgbClr>
              </a:gs>
              <a:gs pos="100000">
                <a:srgbClr val="2596BE">
                  <a:alpha val="10000"/>
                </a:srgbClr>
              </a:gs>
            </a:gsLst>
            <a:lin ang="0" scaled="1"/>
          </a:gradFill>
          <a:ln w="12700">
            <a:solidFill>
              <a:srgbClr val="C9A22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3" name="Shape 91"/>
          <p:cNvSpPr/>
          <p:nvPr/>
        </p:nvSpPr>
        <p:spPr>
          <a:xfrm>
            <a:off x="533400" y="6124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904875" y="6124575"/>
            <a:ext cx="1085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Novedad clave:</a:t>
            </a:r>
            <a:r>
              <a:rPr lang="en-US" sz="1200" b="1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Actualización 2026 — NotebookLM ahora exporta directamente a Excel (XLSX) y PowerPoint (PPTX) editables, además de PDF, DOCX, CSV y JSON. Todas las herramientas incluyen citas verificables a tus fuentes originales — mantén la integridad académica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14350" y="60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6010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- El Motor que lo Potencia Todo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62000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que procesa, entiende y genera todo el contenido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62063"/>
            <a:ext cx="5629275" cy="3743325"/>
          </a:xfrm>
          <a:custGeom>
            <a:avLst/>
            <a:gdLst/>
            <a:ahLst/>
            <a:cxnLst/>
            <a:rect l="l" t="t" r="r" b="b"/>
            <a:pathLst>
              <a:path w="5629275" h="3743325">
                <a:moveTo>
                  <a:pt x="152391" y="0"/>
                </a:moveTo>
                <a:lnTo>
                  <a:pt x="5476884" y="0"/>
                </a:lnTo>
                <a:cubicBezTo>
                  <a:pt x="5561047" y="0"/>
                  <a:pt x="5629275" y="68228"/>
                  <a:pt x="5629275" y="152391"/>
                </a:cubicBezTo>
                <a:lnTo>
                  <a:pt x="5629275" y="3590934"/>
                </a:lnTo>
                <a:cubicBezTo>
                  <a:pt x="5629275" y="3675097"/>
                  <a:pt x="5561047" y="3743325"/>
                  <a:pt x="5476884" y="3743325"/>
                </a:cubicBezTo>
                <a:lnTo>
                  <a:pt x="152391" y="3743325"/>
                </a:lnTo>
                <a:cubicBezTo>
                  <a:pt x="68228" y="3743325"/>
                  <a:pt x="0" y="3675097"/>
                  <a:pt x="0" y="359093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10000"/>
                </a:srgbClr>
              </a:gs>
              <a:gs pos="100000">
                <a:srgbClr val="2596BE">
                  <a:alpha val="5000"/>
                </a:srgbClr>
              </a:gs>
            </a:gsLst>
            <a:lin ang="2700000" scaled="1"/>
          </a:gradFill>
          <a:ln w="12700">
            <a:solidFill>
              <a:srgbClr val="2596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66738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81050" y="17430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¿Dónde está Gemini?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2407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114295" y="0"/>
                </a:moveTo>
                <a:lnTo>
                  <a:pt x="5200655" y="0"/>
                </a:lnTo>
                <a:cubicBezTo>
                  <a:pt x="5263736" y="0"/>
                  <a:pt x="5314950" y="51214"/>
                  <a:pt x="5314950" y="114295"/>
                </a:cubicBezTo>
                <a:lnTo>
                  <a:pt x="5314950" y="876305"/>
                </a:lnTo>
                <a:cubicBezTo>
                  <a:pt x="5314950" y="939386"/>
                  <a:pt x="5263736" y="990600"/>
                  <a:pt x="520065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7225" y="2238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53666" y="2324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38225" y="22574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581275"/>
            <a:ext cx="5162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interfaz especializada en </a:t>
            </a:r>
            <a:r>
              <a:rPr lang="en-US" sz="1200" b="1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tus documentos</a:t>
            </a: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organiza, estructura y presenta la información de tus fuentes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14675" y="31908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52450" y="3505200"/>
            <a:ext cx="5295900" cy="1009650"/>
          </a:xfrm>
          <a:custGeom>
            <a:avLst/>
            <a:gdLst/>
            <a:ahLst/>
            <a:cxnLst/>
            <a:rect l="l" t="t" r="r" b="b"/>
            <a:pathLst>
              <a:path w="5295900" h="1009650">
                <a:moveTo>
                  <a:pt x="114302" y="0"/>
                </a:moveTo>
                <a:lnTo>
                  <a:pt x="5181598" y="0"/>
                </a:lnTo>
                <a:cubicBezTo>
                  <a:pt x="5244725" y="0"/>
                  <a:pt x="5295900" y="51175"/>
                  <a:pt x="5295900" y="114302"/>
                </a:cubicBezTo>
                <a:lnTo>
                  <a:pt x="5295900" y="895348"/>
                </a:lnTo>
                <a:cubicBezTo>
                  <a:pt x="5295900" y="958475"/>
                  <a:pt x="5244725" y="1009650"/>
                  <a:pt x="5181598" y="1009650"/>
                </a:cubicBezTo>
                <a:lnTo>
                  <a:pt x="114302" y="1009650"/>
                </a:lnTo>
                <a:cubicBezTo>
                  <a:pt x="51175" y="1009650"/>
                  <a:pt x="0" y="958475"/>
                  <a:pt x="0" y="8953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76275" y="3629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64381" y="3714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7275" y="3648075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275" y="3971925"/>
            <a:ext cx="5124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</a:t>
            </a:r>
            <a:r>
              <a:rPr lang="en-US" sz="1200" b="1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de IA</a:t>
            </a: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procesa, entiende y genera todo el contenido — el cerebro detrás de cada función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5124450"/>
            <a:ext cx="5619750" cy="1352550"/>
          </a:xfrm>
          <a:custGeom>
            <a:avLst/>
            <a:gdLst/>
            <a:ahLst/>
            <a:cxnLst/>
            <a:rect l="l" t="t" r="r" b="b"/>
            <a:pathLst>
              <a:path w="5619750" h="1352550">
                <a:moveTo>
                  <a:pt x="38100" y="0"/>
                </a:moveTo>
                <a:lnTo>
                  <a:pt x="5505446" y="0"/>
                </a:lnTo>
                <a:cubicBezTo>
                  <a:pt x="5568574" y="0"/>
                  <a:pt x="5619750" y="51176"/>
                  <a:pt x="5619750" y="114304"/>
                </a:cubicBezTo>
                <a:lnTo>
                  <a:pt x="5619750" y="1238246"/>
                </a:lnTo>
                <a:cubicBezTo>
                  <a:pt x="5619750" y="1301374"/>
                  <a:pt x="5568574" y="1352550"/>
                  <a:pt x="55054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00050" y="5124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95313" y="532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90575" y="5276850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3.5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" y="5657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38200" y="56197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+ cómputo: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de contexto ampliada con Antigravity — procesa libros enteros y ejecuta código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0550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38200" y="5867400"/>
            <a:ext cx="3876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nativo: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PDFs, imágenes, audio, video YouTube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0550" y="6153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38200" y="6115050"/>
            <a:ext cx="4219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Razonamiento avanzado: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Conecta ideas entre múltiples fuentes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963" y="1262063"/>
            <a:ext cx="5629275" cy="5210175"/>
          </a:xfrm>
          <a:custGeom>
            <a:avLst/>
            <a:gdLst/>
            <a:ahLst/>
            <a:cxnLst/>
            <a:rect l="l" t="t" r="r" b="b"/>
            <a:pathLst>
              <a:path w="5629275" h="5210175">
                <a:moveTo>
                  <a:pt x="152398" y="0"/>
                </a:moveTo>
                <a:lnTo>
                  <a:pt x="5476877" y="0"/>
                </a:lnTo>
                <a:cubicBezTo>
                  <a:pt x="5561044" y="0"/>
                  <a:pt x="5629275" y="68231"/>
                  <a:pt x="5629275" y="152398"/>
                </a:cubicBezTo>
                <a:lnTo>
                  <a:pt x="5629275" y="5057777"/>
                </a:lnTo>
                <a:cubicBezTo>
                  <a:pt x="5629275" y="5141944"/>
                  <a:pt x="5561044" y="5210175"/>
                  <a:pt x="5476877" y="5210175"/>
                </a:cubicBezTo>
                <a:lnTo>
                  <a:pt x="152398" y="5210175"/>
                </a:lnTo>
                <a:cubicBezTo>
                  <a:pt x="68231" y="5210175"/>
                  <a:pt x="0" y="5141944"/>
                  <a:pt x="0" y="50577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02124">
                  <a:alpha val="5000"/>
                </a:srgbClr>
              </a:gs>
              <a:gs pos="100000">
                <a:srgbClr val="2596BE">
                  <a:alpha val="5000"/>
                </a:srgbClr>
              </a:gs>
            </a:gsLst>
            <a:lin ang="2700000" scaled="1"/>
          </a:gradFill>
          <a:ln w="12700">
            <a:solidFill>
              <a:srgbClr val="202124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334125" y="14573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572250" y="14192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¿Cuándo usar cada uno?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2581275"/>
            <a:ext cx="5314950" cy="1066800"/>
          </a:xfrm>
          <a:custGeom>
            <a:avLst/>
            <a:gdLst/>
            <a:ahLst/>
            <a:cxnLst/>
            <a:rect l="l" t="t" r="r" b="b"/>
            <a:pathLst>
              <a:path w="5314950" h="1066800">
                <a:moveTo>
                  <a:pt x="114297" y="0"/>
                </a:moveTo>
                <a:lnTo>
                  <a:pt x="5200653" y="0"/>
                </a:lnTo>
                <a:cubicBezTo>
                  <a:pt x="5263778" y="0"/>
                  <a:pt x="5314950" y="51172"/>
                  <a:pt x="5314950" y="114297"/>
                </a:cubicBezTo>
                <a:lnTo>
                  <a:pt x="5314950" y="952503"/>
                </a:lnTo>
                <a:cubicBezTo>
                  <a:pt x="5314950" y="1015628"/>
                  <a:pt x="5263778" y="1066800"/>
                  <a:pt x="520065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482953" y="27432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738938" y="26955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596B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8425" y="30384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41083" y="3038475"/>
            <a:ext cx="3848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Analizar MI documento de 100 páginas </a:t>
            </a: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(citas verificables)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8425" y="33051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1083" y="3305175"/>
            <a:ext cx="35909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Estudiar para examen con mis apuntes </a:t>
            </a: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(fichas + tests)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4125" y="3724275"/>
            <a:ext cx="5314950" cy="1333500"/>
          </a:xfrm>
          <a:custGeom>
            <a:avLst/>
            <a:gdLst/>
            <a:ahLst/>
            <a:cxnLst/>
            <a:rect l="l" t="t" r="r" b="b"/>
            <a:pathLst>
              <a:path w="5314950" h="1333500">
                <a:moveTo>
                  <a:pt x="114294" y="0"/>
                </a:moveTo>
                <a:lnTo>
                  <a:pt x="5200656" y="0"/>
                </a:lnTo>
                <a:cubicBezTo>
                  <a:pt x="5263736" y="0"/>
                  <a:pt x="5314950" y="51214"/>
                  <a:pt x="5314950" y="114294"/>
                </a:cubicBezTo>
                <a:lnTo>
                  <a:pt x="5314950" y="1219206"/>
                </a:lnTo>
                <a:cubicBezTo>
                  <a:pt x="5314950" y="1282286"/>
                  <a:pt x="5263736" y="1333500"/>
                  <a:pt x="520065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472238" y="3886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738938" y="383857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Standalone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48425" y="41814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41083" y="4181475"/>
            <a:ext cx="3600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Buscar info en internet en tiempo real </a:t>
            </a: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(conexión web)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8425" y="44481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41083" y="4448175"/>
            <a:ext cx="3190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Crear código nuevo desde cero </a:t>
            </a: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(programación)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8425" y="471487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41083" y="4714875"/>
            <a:ext cx="3390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Escribir email profesional </a:t>
            </a: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(integración Workspace)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8888" y="5919788"/>
            <a:ext cx="5305425" cy="390525"/>
          </a:xfrm>
          <a:custGeom>
            <a:avLst/>
            <a:gdLst/>
            <a:ahLst/>
            <a:cxnLst/>
            <a:rect l="l" t="t" r="r" b="b"/>
            <a:pathLst>
              <a:path w="5305425" h="390525">
                <a:moveTo>
                  <a:pt x="76199" y="0"/>
                </a:moveTo>
                <a:lnTo>
                  <a:pt x="5229226" y="0"/>
                </a:lnTo>
                <a:cubicBezTo>
                  <a:pt x="5271309" y="0"/>
                  <a:pt x="5305425" y="34116"/>
                  <a:pt x="5305425" y="76199"/>
                </a:cubicBezTo>
                <a:lnTo>
                  <a:pt x="5305425" y="314326"/>
                </a:lnTo>
                <a:cubicBezTo>
                  <a:pt x="5305425" y="356409"/>
                  <a:pt x="5271309" y="390525"/>
                  <a:pt x="52292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 w="12700">
            <a:solidFill>
              <a:srgbClr val="2596B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7333804" y="60340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629400" y="600075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magia: ¡Úsalos juntos para máximo impacto!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88156" y="600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638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Trabajo Combinado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723900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Casos Prácticos Reales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09663"/>
            <a:ext cx="5629275" cy="5362575"/>
          </a:xfrm>
          <a:custGeom>
            <a:avLst/>
            <a:gdLst/>
            <a:ahLst/>
            <a:cxnLst/>
            <a:rect l="l" t="t" r="r" b="b"/>
            <a:pathLst>
              <a:path w="5629275" h="5362575">
                <a:moveTo>
                  <a:pt x="152404" y="0"/>
                </a:moveTo>
                <a:lnTo>
                  <a:pt x="5476871" y="0"/>
                </a:lnTo>
                <a:cubicBezTo>
                  <a:pt x="5561041" y="0"/>
                  <a:pt x="5629275" y="68234"/>
                  <a:pt x="5629275" y="152404"/>
                </a:cubicBezTo>
                <a:lnTo>
                  <a:pt x="5629275" y="5210171"/>
                </a:lnTo>
                <a:cubicBezTo>
                  <a:pt x="5629275" y="5294341"/>
                  <a:pt x="5561041" y="5362575"/>
                  <a:pt x="5476871" y="5362575"/>
                </a:cubicBezTo>
                <a:lnTo>
                  <a:pt x="152404" y="5362575"/>
                </a:lnTo>
                <a:cubicBezTo>
                  <a:pt x="68234" y="5362575"/>
                  <a:pt x="0" y="5294341"/>
                  <a:pt x="0" y="52101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10000"/>
                </a:srgbClr>
              </a:gs>
              <a:gs pos="100000">
                <a:srgbClr val="2596BE">
                  <a:alpha val="5000"/>
                </a:srgbClr>
              </a:gs>
            </a:gsLst>
            <a:lin ang="2700000" scaled="1"/>
          </a:gradFill>
          <a:ln w="12700">
            <a:solidFill>
              <a:srgbClr val="2596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2925" y="1323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95300" y="132397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👨‍🎓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225" y="1266825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Estudiante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8225" y="153352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Preparando examen final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352675"/>
            <a:ext cx="5314950" cy="1162050"/>
          </a:xfrm>
          <a:custGeom>
            <a:avLst/>
            <a:gdLst/>
            <a:ahLst/>
            <a:cxnLst/>
            <a:rect l="l" t="t" r="r" b="b"/>
            <a:pathLst>
              <a:path w="5314950" h="1162050">
                <a:moveTo>
                  <a:pt x="114299" y="0"/>
                </a:moveTo>
                <a:lnTo>
                  <a:pt x="5200651" y="0"/>
                </a:lnTo>
                <a:cubicBezTo>
                  <a:pt x="5263776" y="0"/>
                  <a:pt x="5314950" y="51174"/>
                  <a:pt x="5314950" y="114299"/>
                </a:cubicBezTo>
                <a:lnTo>
                  <a:pt x="5314950" y="1047751"/>
                </a:lnTo>
                <a:cubicBezTo>
                  <a:pt x="5314950" y="1110876"/>
                  <a:pt x="5263776" y="1162050"/>
                  <a:pt x="520065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57225" y="2466975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76199" y="0"/>
                </a:moveTo>
                <a:lnTo>
                  <a:pt x="409576" y="0"/>
                </a:lnTo>
                <a:cubicBezTo>
                  <a:pt x="451659" y="0"/>
                  <a:pt x="485775" y="34116"/>
                  <a:pt x="485775" y="76199"/>
                </a:cubicBezTo>
                <a:lnTo>
                  <a:pt x="485775" y="152401"/>
                </a:lnTo>
                <a:cubicBezTo>
                  <a:pt x="485775" y="194484"/>
                  <a:pt x="451659" y="228600"/>
                  <a:pt x="409576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57225" y="2466975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8977" y="24669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273367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5825" y="2733675"/>
            <a:ext cx="2809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Sube: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PDFs, grabaciones, videos YouTube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296227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825" y="2962275"/>
            <a:ext cx="3295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Mapa conceptual del "bosque completo"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19087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5825" y="3190875"/>
            <a:ext cx="3171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Podcast para escuchar haciendo ejercicio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3629025"/>
            <a:ext cx="5314950" cy="1162050"/>
          </a:xfrm>
          <a:custGeom>
            <a:avLst/>
            <a:gdLst/>
            <a:ahLst/>
            <a:cxnLst/>
            <a:rect l="l" t="t" r="r" b="b"/>
            <a:pathLst>
              <a:path w="5314950" h="1162050">
                <a:moveTo>
                  <a:pt x="114299" y="0"/>
                </a:moveTo>
                <a:lnTo>
                  <a:pt x="5200651" y="0"/>
                </a:lnTo>
                <a:cubicBezTo>
                  <a:pt x="5263776" y="0"/>
                  <a:pt x="5314950" y="51174"/>
                  <a:pt x="5314950" y="114299"/>
                </a:cubicBezTo>
                <a:lnTo>
                  <a:pt x="5314950" y="1047751"/>
                </a:lnTo>
                <a:cubicBezTo>
                  <a:pt x="5314950" y="1110876"/>
                  <a:pt x="5263776" y="1162050"/>
                  <a:pt x="520065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7225" y="3743325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76199" y="0"/>
                </a:moveTo>
                <a:lnTo>
                  <a:pt x="438151" y="0"/>
                </a:lnTo>
                <a:cubicBezTo>
                  <a:pt x="480234" y="0"/>
                  <a:pt x="514350" y="34116"/>
                  <a:pt x="514350" y="76199"/>
                </a:cubicBezTo>
                <a:lnTo>
                  <a:pt x="514350" y="152401"/>
                </a:lnTo>
                <a:cubicBezTo>
                  <a:pt x="514350" y="194484"/>
                  <a:pt x="480234" y="228600"/>
                  <a:pt x="43815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7225" y="3743325"/>
            <a:ext cx="581025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4575" y="374332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Estudio Activo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225" y="401002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5825" y="4010025"/>
            <a:ext cx="2571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Fichas: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Exporta CSV para Anki/Quizlet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225" y="423862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5825" y="4238625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Cuestionario con explicaciones de errores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225" y="446722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5825" y="4467225"/>
            <a:ext cx="272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Refuerza: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Guía de Aprendizaje — tutor 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2925" y="4905375"/>
            <a:ext cx="5314950" cy="933450"/>
          </a:xfrm>
          <a:custGeom>
            <a:avLst/>
            <a:gdLst/>
            <a:ahLst/>
            <a:cxnLst/>
            <a:rect l="l" t="t" r="r" b="b"/>
            <a:pathLst>
              <a:path w="5314950" h="933450">
                <a:moveTo>
                  <a:pt x="114301" y="0"/>
                </a:moveTo>
                <a:lnTo>
                  <a:pt x="5200649" y="0"/>
                </a:lnTo>
                <a:cubicBezTo>
                  <a:pt x="5263776" y="0"/>
                  <a:pt x="5314950" y="51174"/>
                  <a:pt x="5314950" y="114301"/>
                </a:cubicBezTo>
                <a:lnTo>
                  <a:pt x="5314950" y="819149"/>
                </a:lnTo>
                <a:cubicBezTo>
                  <a:pt x="5314950" y="882276"/>
                  <a:pt x="5263776" y="933450"/>
                  <a:pt x="5200649" y="933450"/>
                </a:cubicBezTo>
                <a:lnTo>
                  <a:pt x="114301" y="933450"/>
                </a:lnTo>
                <a:cubicBezTo>
                  <a:pt x="51174" y="933450"/>
                  <a:pt x="0" y="882276"/>
                  <a:pt x="0" y="8191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57225" y="5019675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76199" y="0"/>
                </a:moveTo>
                <a:lnTo>
                  <a:pt x="438151" y="0"/>
                </a:lnTo>
                <a:cubicBezTo>
                  <a:pt x="480234" y="0"/>
                  <a:pt x="514350" y="34116"/>
                  <a:pt x="514350" y="76199"/>
                </a:cubicBezTo>
                <a:lnTo>
                  <a:pt x="514350" y="152401"/>
                </a:lnTo>
                <a:cubicBezTo>
                  <a:pt x="514350" y="194484"/>
                  <a:pt x="480234" y="228600"/>
                  <a:pt x="43815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57225" y="5019675"/>
            <a:ext cx="581025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48073" y="501967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Creación (Gemini)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7225" y="528637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5825" y="5286375"/>
            <a:ext cx="3114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Redacta ensayo usando ideas de NotebookLM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7225" y="5514975"/>
            <a:ext cx="22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5825" y="5514975"/>
            <a:ext cx="261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 redacción y estructura en Docs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6963" y="1109663"/>
            <a:ext cx="5629275" cy="5362575"/>
          </a:xfrm>
          <a:custGeom>
            <a:avLst/>
            <a:gdLst/>
            <a:ahLst/>
            <a:cxnLst/>
            <a:rect l="l" t="t" r="r" b="b"/>
            <a:pathLst>
              <a:path w="5629275" h="5362575">
                <a:moveTo>
                  <a:pt x="152404" y="0"/>
                </a:moveTo>
                <a:lnTo>
                  <a:pt x="5476871" y="0"/>
                </a:lnTo>
                <a:cubicBezTo>
                  <a:pt x="5561041" y="0"/>
                  <a:pt x="5629275" y="68234"/>
                  <a:pt x="5629275" y="152404"/>
                </a:cubicBezTo>
                <a:lnTo>
                  <a:pt x="5629275" y="5210171"/>
                </a:lnTo>
                <a:cubicBezTo>
                  <a:pt x="5629275" y="5294341"/>
                  <a:pt x="5561041" y="5362575"/>
                  <a:pt x="5476871" y="5362575"/>
                </a:cubicBezTo>
                <a:lnTo>
                  <a:pt x="152404" y="5362575"/>
                </a:lnTo>
                <a:cubicBezTo>
                  <a:pt x="68234" y="5362575"/>
                  <a:pt x="0" y="5294341"/>
                  <a:pt x="0" y="52101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227">
                  <a:alpha val="1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 w="12700">
            <a:solidFill>
              <a:srgbClr val="C9A22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6334125" y="1323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6286500" y="132397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👨‍🏫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29425" y="126682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29425" y="153352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Preparando clase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125" y="1876425"/>
            <a:ext cx="5314950" cy="1162050"/>
          </a:xfrm>
          <a:custGeom>
            <a:avLst/>
            <a:gdLst/>
            <a:ahLst/>
            <a:cxnLst/>
            <a:rect l="l" t="t" r="r" b="b"/>
            <a:pathLst>
              <a:path w="5314950" h="1162050">
                <a:moveTo>
                  <a:pt x="114299" y="0"/>
                </a:moveTo>
                <a:lnTo>
                  <a:pt x="5200651" y="0"/>
                </a:lnTo>
                <a:cubicBezTo>
                  <a:pt x="5263776" y="0"/>
                  <a:pt x="5314950" y="51174"/>
                  <a:pt x="5314950" y="114299"/>
                </a:cubicBezTo>
                <a:lnTo>
                  <a:pt x="5314950" y="1047751"/>
                </a:lnTo>
                <a:cubicBezTo>
                  <a:pt x="5314950" y="1110876"/>
                  <a:pt x="5263776" y="1162050"/>
                  <a:pt x="520065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482953" y="20193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738938" y="1990725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8425" y="225742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41083" y="2257425"/>
            <a:ext cx="3762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 infografía visual del tema para captar la atención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48425" y="248602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41083" y="2486025"/>
            <a:ext cx="3267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 slide deck PDF listo para proyectar en clase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48425" y="271462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41083" y="2714625"/>
            <a:ext cx="3324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 conceptos clave en minutos, no en horas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4125" y="3152775"/>
            <a:ext cx="5314950" cy="1162050"/>
          </a:xfrm>
          <a:custGeom>
            <a:avLst/>
            <a:gdLst/>
            <a:ahLst/>
            <a:cxnLst/>
            <a:rect l="l" t="t" r="r" b="b"/>
            <a:pathLst>
              <a:path w="5314950" h="1162050">
                <a:moveTo>
                  <a:pt x="114299" y="0"/>
                </a:moveTo>
                <a:lnTo>
                  <a:pt x="5200651" y="0"/>
                </a:lnTo>
                <a:cubicBezTo>
                  <a:pt x="5263776" y="0"/>
                  <a:pt x="5314950" y="51174"/>
                  <a:pt x="5314950" y="114299"/>
                </a:cubicBezTo>
                <a:lnTo>
                  <a:pt x="5314950" y="1047751"/>
                </a:lnTo>
                <a:cubicBezTo>
                  <a:pt x="5314950" y="1110876"/>
                  <a:pt x="5263776" y="1162050"/>
                  <a:pt x="520065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4" name="Shape 52"/>
          <p:cNvSpPr/>
          <p:nvPr/>
        </p:nvSpPr>
        <p:spPr>
          <a:xfrm>
            <a:off x="6472238" y="32956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6738938" y="326707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48425" y="353377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41083" y="3533775"/>
            <a:ext cx="3276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Diseña actividades complementarias interactivas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48425" y="376237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41083" y="3762375"/>
            <a:ext cx="3038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Propone ejemplos actualizados de actualidad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48425" y="3990975"/>
            <a:ext cx="19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41083" y="3990975"/>
            <a:ext cx="3543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 el contenido a diferentes niveles de habilidad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38888" y="5862638"/>
            <a:ext cx="5305425" cy="447675"/>
          </a:xfrm>
          <a:custGeom>
            <a:avLst/>
            <a:gdLst/>
            <a:ahLst/>
            <a:cxnLst/>
            <a:rect l="l" t="t" r="r" b="b"/>
            <a:pathLst>
              <a:path w="5305425" h="447675">
                <a:moveTo>
                  <a:pt x="114300" y="0"/>
                </a:moveTo>
                <a:lnTo>
                  <a:pt x="5191125" y="0"/>
                </a:lnTo>
                <a:cubicBezTo>
                  <a:pt x="5254251" y="0"/>
                  <a:pt x="5305425" y="51174"/>
                  <a:pt x="5305425" y="114300"/>
                </a:cubicBezTo>
                <a:lnTo>
                  <a:pt x="5305425" y="333375"/>
                </a:lnTo>
                <a:cubicBezTo>
                  <a:pt x="5305425" y="396501"/>
                  <a:pt x="5254251" y="447675"/>
                  <a:pt x="519112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10000"/>
                </a:srgbClr>
              </a:gs>
              <a:gs pos="100000">
                <a:srgbClr val="C9A227">
                  <a:alpha val="10000"/>
                </a:srgbClr>
              </a:gs>
            </a:gsLst>
            <a:lin ang="0" scaled="1"/>
          </a:gradFill>
          <a:ln w="12700">
            <a:solidFill>
              <a:srgbClr val="2596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Shape 61"/>
          <p:cNvSpPr/>
          <p:nvPr/>
        </p:nvSpPr>
        <p:spPr>
          <a:xfrm>
            <a:off x="7205142" y="60055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6667500" y="5981700"/>
            <a:ext cx="4895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Ahorra horas de preparación manteniendo calidad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feb07d3111ca2512cae93ceaacb6542b9e3eb98c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Acceso y Próximos Pasos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800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Comienza hoy mismo — Es gratis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62050"/>
            <a:ext cx="3705225" cy="4324350"/>
          </a:xfrm>
          <a:custGeom>
            <a:avLst/>
            <a:gdLst/>
            <a:ahLst/>
            <a:cxnLst/>
            <a:rect l="l" t="t" r="r" b="b"/>
            <a:pathLst>
              <a:path w="3705225" h="4324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171954"/>
                </a:lnTo>
                <a:cubicBezTo>
                  <a:pt x="3705225" y="4256120"/>
                  <a:pt x="3636995" y="4324350"/>
                  <a:pt x="3552829" y="4324350"/>
                </a:cubicBezTo>
                <a:lnTo>
                  <a:pt x="152396" y="4324350"/>
                </a:lnTo>
                <a:cubicBezTo>
                  <a:pt x="68230" y="4324350"/>
                  <a:pt x="0" y="4256120"/>
                  <a:pt x="0" y="4171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81000" y="1162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334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661988" y="1485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1104900" y="13335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4900" y="16383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notebooklm.google.com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3400" y="1981200"/>
            <a:ext cx="3400425" cy="1333500"/>
          </a:xfrm>
          <a:custGeom>
            <a:avLst/>
            <a:gdLst/>
            <a:ahLst/>
            <a:cxnLst/>
            <a:rect l="l" t="t" r="r" b="b"/>
            <a:pathLst>
              <a:path w="3400425" h="1333500">
                <a:moveTo>
                  <a:pt x="114294" y="0"/>
                </a:moveTo>
                <a:lnTo>
                  <a:pt x="3286131" y="0"/>
                </a:lnTo>
                <a:cubicBezTo>
                  <a:pt x="3349211" y="0"/>
                  <a:pt x="3400425" y="51214"/>
                  <a:pt x="3400425" y="114294"/>
                </a:cubicBezTo>
                <a:lnTo>
                  <a:pt x="3400425" y="1219206"/>
                </a:lnTo>
                <a:cubicBezTo>
                  <a:pt x="3400425" y="1282286"/>
                  <a:pt x="3349211" y="1333500"/>
                  <a:pt x="32861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671513" y="214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659" y="23039"/>
                </a:moveTo>
                <a:cubicBezTo>
                  <a:pt x="110204" y="18719"/>
                  <a:pt x="114825" y="16073"/>
                  <a:pt x="119814" y="16073"/>
                </a:cubicBezTo>
                <a:lnTo>
                  <a:pt x="120551" y="16073"/>
                </a:lnTo>
                <a:cubicBezTo>
                  <a:pt x="127951" y="16073"/>
                  <a:pt x="133945" y="22067"/>
                  <a:pt x="133945" y="29468"/>
                </a:cubicBezTo>
                <a:cubicBezTo>
                  <a:pt x="133945" y="36868"/>
                  <a:pt x="127951" y="42863"/>
                  <a:pt x="120551" y="42863"/>
                </a:cubicBezTo>
                <a:lnTo>
                  <a:pt x="96005" y="42863"/>
                </a:lnTo>
                <a:lnTo>
                  <a:pt x="107659" y="23039"/>
                </a:lnTo>
                <a:close/>
                <a:moveTo>
                  <a:pt x="63791" y="23039"/>
                </a:moveTo>
                <a:lnTo>
                  <a:pt x="75445" y="42863"/>
                </a:lnTo>
                <a:lnTo>
                  <a:pt x="50899" y="42863"/>
                </a:lnTo>
                <a:cubicBezTo>
                  <a:pt x="43499" y="42863"/>
                  <a:pt x="37505" y="36868"/>
                  <a:pt x="37505" y="29468"/>
                </a:cubicBezTo>
                <a:cubicBezTo>
                  <a:pt x="37505" y="22067"/>
                  <a:pt x="43499" y="16073"/>
                  <a:pt x="50899" y="16073"/>
                </a:cubicBezTo>
                <a:lnTo>
                  <a:pt x="51636" y="16073"/>
                </a:lnTo>
                <a:cubicBezTo>
                  <a:pt x="56625" y="16073"/>
                  <a:pt x="61280" y="18719"/>
                  <a:pt x="63791" y="23039"/>
                </a:cubicBezTo>
                <a:close/>
                <a:moveTo>
                  <a:pt x="93795" y="14901"/>
                </a:moveTo>
                <a:lnTo>
                  <a:pt x="85725" y="28631"/>
                </a:lnTo>
                <a:lnTo>
                  <a:pt x="77655" y="14901"/>
                </a:lnTo>
                <a:cubicBezTo>
                  <a:pt x="72230" y="5659"/>
                  <a:pt x="62318" y="0"/>
                  <a:pt x="51636" y="0"/>
                </a:cubicBezTo>
                <a:lnTo>
                  <a:pt x="50899" y="0"/>
                </a:lnTo>
                <a:cubicBezTo>
                  <a:pt x="34625" y="0"/>
                  <a:pt x="21431" y="13194"/>
                  <a:pt x="21431" y="29468"/>
                </a:cubicBezTo>
                <a:cubicBezTo>
                  <a:pt x="21431" y="34290"/>
                  <a:pt x="22603" y="38844"/>
                  <a:pt x="24646" y="42863"/>
                </a:cubicBezTo>
                <a:lnTo>
                  <a:pt x="10716" y="42863"/>
                </a:lnTo>
                <a:cubicBezTo>
                  <a:pt x="4789" y="42863"/>
                  <a:pt x="0" y="47651"/>
                  <a:pt x="0" y="53578"/>
                </a:cubicBezTo>
                <a:lnTo>
                  <a:pt x="0" y="64294"/>
                </a:lnTo>
                <a:cubicBezTo>
                  <a:pt x="0" y="70221"/>
                  <a:pt x="4789" y="75009"/>
                  <a:pt x="10716" y="75009"/>
                </a:cubicBezTo>
                <a:lnTo>
                  <a:pt x="160734" y="75009"/>
                </a:lnTo>
                <a:cubicBezTo>
                  <a:pt x="166661" y="75009"/>
                  <a:pt x="171450" y="70221"/>
                  <a:pt x="171450" y="64294"/>
                </a:cubicBezTo>
                <a:lnTo>
                  <a:pt x="171450" y="53578"/>
                </a:lnTo>
                <a:cubicBezTo>
                  <a:pt x="171450" y="47651"/>
                  <a:pt x="166661" y="42863"/>
                  <a:pt x="160734" y="42863"/>
                </a:cubicBezTo>
                <a:lnTo>
                  <a:pt x="146804" y="42863"/>
                </a:lnTo>
                <a:cubicBezTo>
                  <a:pt x="148847" y="38844"/>
                  <a:pt x="150019" y="34290"/>
                  <a:pt x="150019" y="29468"/>
                </a:cubicBezTo>
                <a:cubicBezTo>
                  <a:pt x="150019" y="13194"/>
                  <a:pt x="136825" y="0"/>
                  <a:pt x="120551" y="0"/>
                </a:cubicBezTo>
                <a:lnTo>
                  <a:pt x="119814" y="0"/>
                </a:lnTo>
                <a:cubicBezTo>
                  <a:pt x="109132" y="0"/>
                  <a:pt x="99220" y="5659"/>
                  <a:pt x="93795" y="14868"/>
                </a:cubicBezTo>
                <a:close/>
                <a:moveTo>
                  <a:pt x="160734" y="91083"/>
                </a:moveTo>
                <a:lnTo>
                  <a:pt x="93762" y="91083"/>
                </a:lnTo>
                <a:lnTo>
                  <a:pt x="93762" y="160734"/>
                </a:lnTo>
                <a:lnTo>
                  <a:pt x="139303" y="160734"/>
                </a:lnTo>
                <a:cubicBezTo>
                  <a:pt x="151124" y="160734"/>
                  <a:pt x="160734" y="151124"/>
                  <a:pt x="160734" y="139303"/>
                </a:cubicBezTo>
                <a:lnTo>
                  <a:pt x="160734" y="91083"/>
                </a:lnTo>
                <a:close/>
                <a:moveTo>
                  <a:pt x="77688" y="91083"/>
                </a:moveTo>
                <a:lnTo>
                  <a:pt x="10716" y="91083"/>
                </a:lnTo>
                <a:lnTo>
                  <a:pt x="10716" y="139303"/>
                </a:lnTo>
                <a:cubicBezTo>
                  <a:pt x="10716" y="151124"/>
                  <a:pt x="20326" y="160734"/>
                  <a:pt x="32147" y="160734"/>
                </a:cubicBezTo>
                <a:lnTo>
                  <a:pt x="77688" y="160734"/>
                </a:lnTo>
                <a:lnTo>
                  <a:pt x="77688" y="91083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866775" y="20955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Gratis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700" y="24384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cuadernos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7700" y="27051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fuentes/cuaderno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7700" y="29718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consultas/día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3400" y="3390900"/>
            <a:ext cx="3400425" cy="1333500"/>
          </a:xfrm>
          <a:custGeom>
            <a:avLst/>
            <a:gdLst/>
            <a:ahLst/>
            <a:cxnLst/>
            <a:rect l="l" t="t" r="r" b="b"/>
            <a:pathLst>
              <a:path w="3400425" h="1333500">
                <a:moveTo>
                  <a:pt x="114294" y="0"/>
                </a:moveTo>
                <a:lnTo>
                  <a:pt x="3286131" y="0"/>
                </a:lnTo>
                <a:cubicBezTo>
                  <a:pt x="3349211" y="0"/>
                  <a:pt x="3400425" y="51214"/>
                  <a:pt x="3400425" y="114294"/>
                </a:cubicBezTo>
                <a:lnTo>
                  <a:pt x="3400425" y="1219206"/>
                </a:lnTo>
                <a:cubicBezTo>
                  <a:pt x="3400425" y="1282286"/>
                  <a:pt x="3349211" y="1333500"/>
                  <a:pt x="32861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660797" y="3552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866775" y="35052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AI Pro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7700" y="38481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cuadernos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7700" y="41148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fuentes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7700" y="43815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consultas/día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41750" y="1162050"/>
            <a:ext cx="3705225" cy="4324350"/>
          </a:xfrm>
          <a:custGeom>
            <a:avLst/>
            <a:gdLst/>
            <a:ahLst/>
            <a:cxnLst/>
            <a:rect l="l" t="t" r="r" b="b"/>
            <a:pathLst>
              <a:path w="3705225" h="4324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171954"/>
                </a:lnTo>
                <a:cubicBezTo>
                  <a:pt x="3705225" y="4256120"/>
                  <a:pt x="3636995" y="4324350"/>
                  <a:pt x="3552829" y="4324350"/>
                </a:cubicBezTo>
                <a:lnTo>
                  <a:pt x="152396" y="4324350"/>
                </a:lnTo>
                <a:cubicBezTo>
                  <a:pt x="68230" y="4324350"/>
                  <a:pt x="0" y="4256120"/>
                  <a:pt x="0" y="4171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4241750" y="1162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43941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4508450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4965650" y="1333500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965650" y="16383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gemini.google.com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94150" y="1981200"/>
            <a:ext cx="3400425" cy="1333500"/>
          </a:xfrm>
          <a:custGeom>
            <a:avLst/>
            <a:gdLst/>
            <a:ahLst/>
            <a:cxnLst/>
            <a:rect l="l" t="t" r="r" b="b"/>
            <a:pathLst>
              <a:path w="3400425" h="1333500">
                <a:moveTo>
                  <a:pt x="114294" y="0"/>
                </a:moveTo>
                <a:lnTo>
                  <a:pt x="3286131" y="0"/>
                </a:lnTo>
                <a:cubicBezTo>
                  <a:pt x="3349211" y="0"/>
                  <a:pt x="3400425" y="51214"/>
                  <a:pt x="3400425" y="114294"/>
                </a:cubicBezTo>
                <a:lnTo>
                  <a:pt x="3400425" y="1219206"/>
                </a:lnTo>
                <a:cubicBezTo>
                  <a:pt x="3400425" y="1282286"/>
                  <a:pt x="3349211" y="1333500"/>
                  <a:pt x="32861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4521547" y="2143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4727525" y="20955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Advanced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08450" y="24384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Acceso a 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3.5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08450" y="27051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 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08450" y="29718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Incluye 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computer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394150" y="3390900"/>
            <a:ext cx="3400425" cy="1333500"/>
          </a:xfrm>
          <a:custGeom>
            <a:avLst/>
            <a:gdLst/>
            <a:ahLst/>
            <a:cxnLst/>
            <a:rect l="l" t="t" r="r" b="b"/>
            <a:pathLst>
              <a:path w="3400425" h="1333500">
                <a:moveTo>
                  <a:pt x="114294" y="0"/>
                </a:moveTo>
                <a:lnTo>
                  <a:pt x="3286131" y="0"/>
                </a:lnTo>
                <a:cubicBezTo>
                  <a:pt x="3349211" y="0"/>
                  <a:pt x="3400425" y="51214"/>
                  <a:pt x="3400425" y="114294"/>
                </a:cubicBezTo>
                <a:lnTo>
                  <a:pt x="3400425" y="1219206"/>
                </a:lnTo>
                <a:cubicBezTo>
                  <a:pt x="3400425" y="1282286"/>
                  <a:pt x="3349211" y="1333500"/>
                  <a:pt x="32861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596BE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4"/>
          <p:cNvSpPr/>
          <p:nvPr/>
        </p:nvSpPr>
        <p:spPr>
          <a:xfrm>
            <a:off x="4542979" y="35528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4727525" y="35052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Integraciones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508450" y="38481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Canvas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Schoology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508450" y="41148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Classroom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(próx.)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508450" y="4381500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OpenStax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pre-cargado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07338" y="1147763"/>
            <a:ext cx="3695700" cy="4333875"/>
          </a:xfrm>
          <a:custGeom>
            <a:avLst/>
            <a:gdLst/>
            <a:ahLst/>
            <a:cxnLst/>
            <a:rect l="l" t="t" r="r" b="b"/>
            <a:pathLst>
              <a:path w="3695700" h="4333875">
                <a:moveTo>
                  <a:pt x="152411" y="0"/>
                </a:moveTo>
                <a:lnTo>
                  <a:pt x="3543289" y="0"/>
                </a:lnTo>
                <a:cubicBezTo>
                  <a:pt x="3627463" y="0"/>
                  <a:pt x="3695700" y="68237"/>
                  <a:pt x="3695700" y="152411"/>
                </a:cubicBezTo>
                <a:lnTo>
                  <a:pt x="3695700" y="4181464"/>
                </a:lnTo>
                <a:cubicBezTo>
                  <a:pt x="3695700" y="4265638"/>
                  <a:pt x="3627463" y="4333875"/>
                  <a:pt x="3543289" y="4333875"/>
                </a:cubicBezTo>
                <a:lnTo>
                  <a:pt x="152411" y="4333875"/>
                </a:lnTo>
                <a:cubicBezTo>
                  <a:pt x="68237" y="4333875"/>
                  <a:pt x="0" y="4265638"/>
                  <a:pt x="0" y="418146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>
                  <a:alpha val="1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2700">
            <a:solidFill>
              <a:srgbClr val="2596B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0"/>
          <p:cNvSpPr/>
          <p:nvPr/>
        </p:nvSpPr>
        <p:spPr>
          <a:xfrm>
            <a:off x="8312125" y="13430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1"/>
          <p:cNvSpPr/>
          <p:nvPr/>
        </p:nvSpPr>
        <p:spPr>
          <a:xfrm>
            <a:off x="8502625" y="1304925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 Pro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64500" y="1685925"/>
            <a:ext cx="3381375" cy="1143000"/>
          </a:xfrm>
          <a:custGeom>
            <a:avLst/>
            <a:gdLst/>
            <a:ahLst/>
            <a:cxnLst/>
            <a:rect l="l" t="t" r="r" b="b"/>
            <a:pathLst>
              <a:path w="3381375" h="1143000">
                <a:moveTo>
                  <a:pt x="114300" y="0"/>
                </a:moveTo>
                <a:lnTo>
                  <a:pt x="3267075" y="0"/>
                </a:lnTo>
                <a:cubicBezTo>
                  <a:pt x="3330159" y="0"/>
                  <a:pt x="3381375" y="51216"/>
                  <a:pt x="3381375" y="114300"/>
                </a:cubicBezTo>
                <a:lnTo>
                  <a:pt x="3381375" y="1028700"/>
                </a:lnTo>
                <a:cubicBezTo>
                  <a:pt x="3381375" y="1091784"/>
                  <a:pt x="3330159" y="1143000"/>
                  <a:pt x="3267075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6" name="Text 43"/>
          <p:cNvSpPr/>
          <p:nvPr/>
        </p:nvSpPr>
        <p:spPr>
          <a:xfrm>
            <a:off x="8378800" y="1800225"/>
            <a:ext cx="3228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96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"Chat-only sharing"</a:t>
            </a:r>
            <a:r>
              <a:rPr lang="en-US" sz="12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(versión Pro)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378800" y="2085975"/>
            <a:ext cx="32289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Comparte cuadernos </a:t>
            </a:r>
            <a:r>
              <a:rPr lang="en-US" sz="1200" b="1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revelar tus fuentes originales</a:t>
            </a: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ideal para trabajos colaborativos y proyectos en equipo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64500" y="2943225"/>
            <a:ext cx="3381375" cy="2381250"/>
          </a:xfrm>
          <a:custGeom>
            <a:avLst/>
            <a:gdLst/>
            <a:ahLst/>
            <a:cxnLst/>
            <a:rect l="l" t="t" r="r" b="b"/>
            <a:pathLst>
              <a:path w="3381375" h="2381250">
                <a:moveTo>
                  <a:pt x="114300" y="0"/>
                </a:moveTo>
                <a:lnTo>
                  <a:pt x="3267075" y="0"/>
                </a:lnTo>
                <a:cubicBezTo>
                  <a:pt x="3330159" y="0"/>
                  <a:pt x="3381375" y="51216"/>
                  <a:pt x="3381375" y="114300"/>
                </a:cubicBezTo>
                <a:lnTo>
                  <a:pt x="3381375" y="2266950"/>
                </a:lnTo>
                <a:cubicBezTo>
                  <a:pt x="3381375" y="2330034"/>
                  <a:pt x="3330159" y="2381250"/>
                  <a:pt x="3267075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9" name="Text 46"/>
          <p:cNvSpPr/>
          <p:nvPr/>
        </p:nvSpPr>
        <p:spPr>
          <a:xfrm>
            <a:off x="8378800" y="333375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Completo: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378800" y="36766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📚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645500" y="36957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Tus fuentes (PDFs, videos, audio)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899600" y="39814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0"/>
          <p:cNvSpPr/>
          <p:nvPr/>
        </p:nvSpPr>
        <p:spPr>
          <a:xfrm>
            <a:off x="8378800" y="41719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🤖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645500" y="41910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Gemini 3.5 + Antigravity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899600" y="4476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3"/>
          <p:cNvSpPr/>
          <p:nvPr/>
        </p:nvSpPr>
        <p:spPr>
          <a:xfrm>
            <a:off x="8378800" y="46672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021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645500" y="46863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PDF, DOCX, XLSX, PPTX y más, con citas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596BE"/>
              </a:gs>
              <a:gs pos="100000">
                <a:srgbClr val="C9A227"/>
              </a:gs>
            </a:gsLst>
            <a:lin ang="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Shape 56"/>
          <p:cNvSpPr/>
          <p:nvPr/>
        </p:nvSpPr>
        <p:spPr>
          <a:xfrm>
            <a:off x="576263" y="5848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7"/>
          <p:cNvSpPr/>
          <p:nvPr/>
        </p:nvSpPr>
        <p:spPr>
          <a:xfrm>
            <a:off x="1114425" y="5715000"/>
            <a:ext cx="418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¿Listo para transformar tu aprendizaje?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114425" y="60579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Empieza gratis hoy — NotebookLM + Gemini te esperan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0046271" y="573405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112946" y="60769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Gratuito para empezar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726</Words>
  <Application>Microsoft Office PowerPoint</Application>
  <PresentationFormat>Panorámica</PresentationFormat>
  <Paragraphs>167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Quattrocento Sans</vt:lpstr>
      <vt:lpstr>Arial</vt:lpstr>
      <vt:lpstr>Liter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&amp; Gemini: El Ecosistema de IA de Google</dc:title>
  <dc:subject>NotebookLM &amp; Gemini: El Ecosistema de IA de Google</dc:subject>
  <dc:creator>Kimi</dc:creator>
  <cp:lastModifiedBy>Profesional de Investigación de Mercados</cp:lastModifiedBy>
  <cp:revision>2</cp:revision>
  <dcterms:created xsi:type="dcterms:W3CDTF">2026-02-16T18:14:04Z</dcterms:created>
  <dcterms:modified xsi:type="dcterms:W3CDTF">2026-07-08T15:28:25Z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{"Label":"NotebookLM &amp; Gemini: El Ecosistema de IA de Google","ContentProducer":"001191110108MACG2KBH8F10000","ProduceID":"19c67a64-62a2-8941-8000-0000b194943c","ReservedCode1":"","ContentPropagator":"001191110108MACG2KBH8F20000","PropagateID":"19c67a64-62a2-8941-8000-0000b194943c","ReservedCode2":""}</vt:lpwstr>
  </property>
</Properties>
</file>