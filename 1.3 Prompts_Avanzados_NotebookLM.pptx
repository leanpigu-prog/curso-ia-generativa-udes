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027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/home/claude/assets/logo_u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996" y="228600"/>
            <a:ext cx="3108960" cy="599846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80560" y="105156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1"/>
          <p:cNvSpPr/>
          <p:nvPr/>
        </p:nvSpPr>
        <p:spPr>
          <a:xfrm>
            <a:off x="4480560" y="10515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AVANZADA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0" y="210312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Prompts Avanzados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0" y="2788920"/>
            <a:ext cx="121889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NotebookLM</a:t>
            </a:r>
            <a:endParaRPr lang="en-US" sz="4400" dirty="0"/>
          </a:p>
        </p:txBody>
      </p:sp>
      <p:sp>
        <p:nvSpPr>
          <p:cNvPr id="8" name="Shape 4"/>
          <p:cNvSpPr/>
          <p:nvPr/>
        </p:nvSpPr>
        <p:spPr>
          <a:xfrm>
            <a:off x="5394960" y="3730752"/>
            <a:ext cx="1371600" cy="0"/>
          </a:xfrm>
          <a:prstGeom prst="line">
            <a:avLst/>
          </a:prstGeom>
          <a:noFill/>
          <a:ln w="254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5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de Análisis Avanzado para Investigación y Estrategia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297680" y="46177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FF6FA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7"/>
          <p:cNvSpPr/>
          <p:nvPr/>
        </p:nvSpPr>
        <p:spPr>
          <a:xfrm>
            <a:off x="4297680" y="46085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06440" y="461772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FF6FA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9"/>
          <p:cNvSpPr/>
          <p:nvPr/>
        </p:nvSpPr>
        <p:spPr>
          <a:xfrm>
            <a:off x="5806440" y="46085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Experto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223760" y="461772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EFF6FA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7223760" y="46085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Concretas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UDES · Planeación Institucional  |  Julio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Colección de Prompts para NotebookLM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 de prompting experto organizados en 4 secciones, listos para copiar, pegar y adaptar dentro de NotebookLM.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24688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828800" y="24414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Crítico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27889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frameworks — síntesis, contradicciones y jerarquía de evidencia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410712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354787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828800" y="3520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y Estrategia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828800" y="386791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frameworks — implementación, marcos operativos y comunicación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89704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8680" y="462686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828800" y="4599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y Hallazgos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494690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frameworks — preguntas, supuestos, líneas de tiempo y debilidades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568696"/>
            <a:ext cx="10881360" cy="914400"/>
          </a:xfrm>
          <a:prstGeom prst="roundRect">
            <a:avLst>
              <a:gd name="adj" fmla="val 7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868680" y="570585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56784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Especializados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602589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frameworks — aprendizaje, decisiones, edición y coaching socrático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01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48640" cy="0"/>
          </a:xfrm>
          <a:prstGeom prst="line">
            <a:avLst/>
          </a:prstGeom>
          <a:noFill/>
          <a:ln w="3175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21792" y="13716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Crítico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investigadores senior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especializados en identificación de insights revolucionarios, detección de contradicciones y mapeo de evidencia científica.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9144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903720" y="987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Sintetizador Experto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3533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insights revolucionarios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19659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903720" y="2039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Cazador de Contradicciones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24048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discrepancias entre fuentes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903720" y="3090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Mapeador de Evidencia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34564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por jerarquía científica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4008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19456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219456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219456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Exp.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4904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74904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74904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Evid.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💡  El Sintetizador Experto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Investigador senior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años de experiencia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Revolucionarios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400372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profundidad extrema sobre amplitud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Enfocarse en lo que cambia paradigmas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generalidades ya conocidas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exactamente los 3 insights más revolucionarios que cambiarían la forma en que los mejores expertos entienden el tema.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IMPACTANTE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palabras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ULTRA-CLARA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insight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PRINCIPAL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2-4 citas con fuente exacta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3-10 años a futuro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11880" y="418795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776472" y="4279392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FINAL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76472" y="4535424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150-200 palabras · nuevo paradigma coherente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726680" y="418795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891272" y="4279392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DE INVESTIGACIÓN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891272" y="4535424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 alto nivel derivadas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52578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794760" y="53492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insight debe justificar por qué es revolucionario y no solo una observación incremental.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🔀  El Cazador de Contradicciones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 crítico implacable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Meta-análisis y revisiones sistemáticas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las 3 críticas principales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estudio ideal para resolverlas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las contradicciones más importantes entre fuentes (diferencias en conclusiones, magnitud de efectos, causalidad, metodología, interpretación).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CONTRADICCIÓN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exacta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FUENTE(S) A / B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de cada postura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 / B (1-5)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de cada lado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Cuál es más sólido y por qué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982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2628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2628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resolver la duda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tabla obligatorio: cada fila documenta una contradicción con su evidencia y veredicto provisional.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🗂️  El Mapeador de Evidencia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Metodólogo experto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Jerarquías de evidencia · Oxford CEBM + GRADE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Niveles de Evidencia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Meta-análisis alta calidad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Ensayos controlados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Estudios cuasi-experimentales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Casos-control / series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Opinión experta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Anecdótico / no verificable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todas las afirmaciones principales y conclusiones clave según jerarquía de evidencia.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AFIRMACIÓN CLAVE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o parafraseo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exacta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(1-6)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Según jerarquía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/ Media / Baja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Sesgos detectados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982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2628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FORTALECER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2628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 concreta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Resaltar afirmaciones nivel 1-2 consistentes entre 3 o más fuentes — son la base más sólida del argumento.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02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48640" cy="0"/>
          </a:xfrm>
          <a:prstGeom prst="line">
            <a:avLst/>
          </a:prstGeom>
          <a:noFill/>
          <a:ln w="3175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21792" y="13716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Acción y Estrategia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operativas y frameworks de implementación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ejecutivas para convertir insights en acciones concretas, métricas medibles y planes estructurados.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9144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903720" y="987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Plano de Implementación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3533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en 7-12 pasos con KPIs y mitigación de obstáculos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19659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903720" y="2039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de Marcos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24048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operativo con 4-6 pilares y árbol de decisión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903720" y="3090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Traductor para Stakeholders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34564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4 audiencias: C-level, gerentes, técnicos, usuarios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4008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008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19456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219456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219456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74904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374904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12+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74904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🧭  El Plano de Implementación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 senior de ejecución estratégica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Secuenciales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 textual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tipo Gantt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métricas globales de éxito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ruta de implementación realista con pasos secuenciales numerados.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CONCRETA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imperativo + objeto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PRERREQUISITOS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con viñetas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ESTIMADOS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Tiempo, dinero, personas, herramientas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PROBABLES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+ mitigación concreta cada uno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11880" y="418795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776472" y="4279392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/ SEÑAL DE ÉXITO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76472" y="4535424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medible por paso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11880" y="52578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794760" y="53492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por paso: Paso # → Acción → Recursos → KPI.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🧩  El Constructor de Marcos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crear framework operativo integral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4-6 / 3-5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· Letras (acrónimo)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testear en 8 semanas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3 ejemplos reales adaptados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nombre y estructura memorable (acrónimo de 3-5 letras) con un framework operativo completo.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+ ACRÓNIMO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letras memorables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→ Ramas → Criterios → Acción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APLICACIÓN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 × Componentes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validez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11880" y="418795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776472" y="4279392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PILARES / COMPONENTES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776472" y="4535424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 6 bloques centrales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4187952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891272" y="4279392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TEXTUAL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891272" y="4535424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o ASCII para el árbol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611880" y="52578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794760" y="53492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framework debe ser enseñable en una sola sesión y aplicable desde la primera semana.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🗣️  El Traductor para Stakeholders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adaptar contenido a múltiples audiencias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Audiencias Objetivo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adaptado por audiencia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 100-150 palabras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bullets clave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Llamado a acción específico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visual sugerido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Adaptar el mismo contenido a 4 audiencias distintas, cada una con su enfoque y formato ideal.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C-LEVEL / INVERSIONISTAS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ROI, riesgo, ventaja competitiva — 1 página máx. (infografía / one-pager)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DIRECTORES / GERENTES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cambiar, prioridades, timeline, KPIs (slides / dashboard)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operativo, specs, dependencias (wiki / diagramas)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FINALES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cotidianos, lenguaje simple — "¿qué gano yo?" (video corto / guía visual)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versión debe responder la pregunta que esa audiencia realmente se hace, no repetir el mismo texto con otro formato.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03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48640" cy="0"/>
          </a:xfrm>
          <a:prstGeom prst="line">
            <a:avLst/>
          </a:prstGeom>
          <a:noFill/>
          <a:ln w="3175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21792" y="13716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Innovación y Hallazgos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Descubrimiento de insights críticos y oportunidades futuras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especializadas para identificar preguntas innovadoras, asunciones ocultas, líneas temporales y debilidades metodológicas en investigación avanzada.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9144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903720" y="987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Generador de Preguntas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3533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preguntas de nivel experto en 5 categorías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19659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903720" y="2039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Excavador de Supuestos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24048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 supuestos críticos no declarados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903720" y="3090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Constructor de Líneas de Tiempo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34564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Cronología comentada exhaustiva del tema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406908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903720" y="4142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Detector de Debilidades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03720" y="45079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rigurosa estilo Nature / Science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64008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64008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19456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219456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19456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74904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374904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374904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❓  El Generador de Preguntas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formular 20 preguntas de nivel experto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casi nadie investiga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/ 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· Categorías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Enunciado claro y preciso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Fuente(s) que la sugieren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tiene alto apalancamiento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estudio ideal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20 preguntas de investigación de nivel experto, repartidas en 5 categorías con 4 preguntas cada una.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TEÓRICAS / CONCEPTUALES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y marcos conceptuales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EMPÍRICAS / EXPERIMENTALES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Diseños experimentales y validación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APLICADAS / IMPLEMENTACIÓN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práctica y casos reales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ÉTICAS / SOCIETALES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éticas y sociales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FUTURISTAS (5-15 AÑOS)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Proyecciones a largo plazo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 final: top 3 preguntas con mayor potencial para papers de alto impacto.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⛏️  El Excavador de Supuestos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identificar supuestos críticos no declarados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8-12 / 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Supuestos · Columnas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en supuestos que sustentan conclusiones principales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fragilidad metodológica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los 3 supuestos más peligrosos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entre 8 y 12 supuestos implícitos que, de ser falsos, invalidarían las conclusiones principales de las fuentes.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IMPLÍCITO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clara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QUE LO ASUMEN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fuentes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A FAVOR / EN CONTRA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encontrado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CATASTRÓFICO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supuesto es falso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EMPÍRICA SUGERIDA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para falsarlo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supuestos críticos requieren especial atención y una prueba empírica concreta que permita ponerlos a prueba.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El Constructor de Líneas de Tiempo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Tarea: construir cronología comentada exhaustiva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 / 2-3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Aceleradores · Cuellos de botella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año · hito · [fuente] → impacto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optimista 2030-2035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pesimista 2030-2035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una cronología comentada del tema, desde hitos históricos hasta una proyección futura realista.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HISTÓRICO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con fuente e impacto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INFLEXIÓN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+ acelerador principal del cambio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FUTURA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2025-2028 basada en tendencias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ACELERACIÓN / CUELLOS DE BOTELLA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Momentos y obstáculos clave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cronología debe distinguir claramente entre hechos documentados y proyecciones especulativas.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🐞  El Detector de Debilidades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 por pares extremadamente riguroso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Nature / Science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por Debilidad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original resumido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fortalecida con correcciones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debilidades metodológicas, lógicas, estadísticas y de interpretación en el argumento.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de la debilidad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PROBLEMÁTICA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original con la falla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GRAVEDAD (1-5)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severidad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conclusiones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SUGERIDA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concreta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frecuentes: sesgo de selección, p-hacking, HARKing, confusión, generalización indebida. Cada debilidad debe incluir una solución concreta para elevar la calidad a nivel de publicación de alto impacto.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04</a:t>
            </a:r>
            <a:endParaRPr lang="en-US" sz="1300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548640" cy="0"/>
          </a:xfrm>
          <a:prstGeom prst="line">
            <a:avLst/>
          </a:prstGeom>
          <a:noFill/>
          <a:ln w="31750">
            <a:solidFill>
              <a:srgbClr val="2596B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2"/>
          <p:cNvSpPr/>
          <p:nvPr/>
        </p:nvSpPr>
        <p:spPr>
          <a:xfrm>
            <a:off x="621792" y="1371600"/>
            <a:ext cx="5669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Especializados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operativos para desarrollo profesional y toma de decisiones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338328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alto nivel para acelerar aprendizaje, mejorar comunicación, tomar decisiones estratégicas y dominar tecnologías emergentes.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675120" y="91440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6903720" y="987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Multi-perspectiva + Autocrítica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903720" y="13533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expertos colaborando con evaluación rigurosa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75120" y="196596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6903720" y="2039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Aceleradora de Aprendizaje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903720" y="240487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Map y plan de 30 días para dominio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75120" y="30175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6903720" y="30906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Coach Mode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03720" y="345643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progresivas sin respuestas directas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675120" y="406908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6903720" y="41422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y Mantenimiento de Voz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903720" y="450799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radical conservando tu estilo personal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51206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6903720" y="51937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Decisiones Estratégicas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903720" y="555955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de guerra con 4 roles especializados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64008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4008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19456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219456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219456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Perspectivas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749040" y="4892040"/>
            <a:ext cx="1417320" cy="822960"/>
          </a:xfrm>
          <a:prstGeom prst="roundRect">
            <a:avLst>
              <a:gd name="adj" fmla="val 6667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7"/>
          <p:cNvSpPr/>
          <p:nvPr/>
        </p:nvSpPr>
        <p:spPr>
          <a:xfrm>
            <a:off x="3749040" y="49560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96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3749040" y="537667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máx.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Framework Multi-perspectiva + Autocrítica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4 expertos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· Crítico implacable · Optimista pragmático · Estratega ROI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1-10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Auto-evaluación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Resumen ejecutivo (100 palabras máx.)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Respuesta principal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Auto-evaluación + versión mejorada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3 preguntas clave de refinamiento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desde 4 perspectivas de expertos distintas y luego autoevaluar cada respuesta antes de entregarla.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OPTIMIZAR PARA MÉTRICAS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claridad, utilidad, precisión, nivel de grado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DESGLOSAR EN PASOS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pasos secuenciales antes de responder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VISIBLE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Razonar paso a paso en cada perspectiva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ITERAR HASTA ≥9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si la puntuación es menor a 8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incertidumbre o datos no verificados, marcar como [INCERTIDUMBRE] y explicar por qué — transparencia total en las limitaciones.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🎓  Framework Aceleradora de Aprendizaje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top 5-10% mundial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menor tiempo realista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tu nivel real ahora?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tiempo/dedicación por semana?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outputs concretos quieres producir?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 plan de aprendizaje acelerado en 3 pasos: Deep Map del tema, Reverse Learning y un plan accionable de 30 días.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— DEEP MAP DEL TEMA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(20% → 80%) · Intermedio (herramientas/patrones) · Avanzado (edge cases) · Meta (cómo piensan los mejores)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11880" y="320040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776472" y="3291840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— REVERSE LEARNING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76472" y="3547872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Empezar por el output final deseado y retroceder preguntando qué sé / no sé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11880" y="418795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776472" y="4279392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— PLAN DE 30 DÍAS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4535424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1-7: fundamentos esenciales · Días 8-21: práctica deliberada + feedback · Días 22-30: proyectos reales + stress test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5257800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94760" y="53492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incluye tareas diarias, recursos clave, mini-proyectos y métricas de progreso específicas para tu contexto.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🧠  Socratic Coach Mode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fundamental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dar respuestas directas — actuar exclusivamente como coach socrático implacable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por Ronda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"dame la síntesis"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Comando: "resuelve ahora"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entonces resumir lo descubierto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Hacer preguntas progresivamente más profundas en lugar de responder directamente, hasta que el usuario pida la síntesis.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 SUPUESTOS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Desafiar creencias y premisas implícitas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CONTRADICCIONES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inconsistencias propias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IDEAS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conceptos no vinculados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PRECISIÓN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Aclarar términos fundamentales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Y OBJETIVO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área y qué se busca lograr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el usuario responde → 3-5 preguntas más profundas → se repite hasta recibir el comando de cierre.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✍️  Framework de Edición y Mantenimiento de Voz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jefe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años de experiencia — The Atlantic / Nature / Stratechery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×3 / ×2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· Persuasión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final editada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de cambios (por qué)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1-10 (3 criterios)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"vocal" alternativa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radicalmente un texto conservando la voz original del autor, reduciendo entre 30-50% de las palabras sin perder impacto.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CONSERVAR MI VOZ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primero: longitud, tono, vocabulario, humor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550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5196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30-50% PALABRAS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96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perder significado ni impacto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212848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262872" y="2304288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HOOKS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262872" y="2560320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150 palabras para mantener atención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CORREGIR LÓGICA DÉBIL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Afirmaciones sin respaldo, argumentos frágiles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3550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5196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VIRALES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5196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Sugerir título + subtítulos impactantes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098280" y="3200400"/>
            <a:ext cx="25603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9262872" y="3291840"/>
            <a:ext cx="2231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CLARIDAD ×3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262872" y="3547872"/>
            <a:ext cx="22311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Persuasión ×2 en cada sección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Puntuación final (1-10) en fluidez, impacto y originalidad — si la puntuación es menor a 8, mejorar iterativamente.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⚖️  Framework de Toma de Decisiones y Estrategia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Consejo de guerra estratégico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roles especializados colaborando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20/60/20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Optimista · Base · Pesimista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 primero cualquier dato faltante antes del análisis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el dilema con todos los hechos relevantes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una decisión desde 4 roles especializados y llegar a una recomendación final con plan de mitigación de riesgos.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puede salir mal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726680" y="2212848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891272" y="2304288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 AGRESIVO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891272" y="2560320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 upside posible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118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7764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DATA-FIRST CUANTITATIVO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Números, probabilidades, escenarios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726680" y="3200400"/>
            <a:ext cx="39319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7891272" y="3291840"/>
            <a:ext cx="3602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FILÓSOFO ÉTICO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891272" y="3547872"/>
            <a:ext cx="3602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Implicaciones morales a largo plazo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11880" y="4270248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794760" y="4361688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análisis completo → cada rol vota con % de confianza → 3 escenarios (optimista/base/pesimista) → recomendación final + plan de mitigación de riesgos (top 3).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🚀  Framework de Mejora Profesional con IA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932688"/>
            <a:ext cx="11155680" cy="0"/>
          </a:xfrm>
          <a:prstGeom prst="line">
            <a:avLst/>
          </a:prstGeom>
          <a:noFill/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667512" y="123444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67512" y="1490472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usuario top 1%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7512" y="1801368"/>
            <a:ext cx="2551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IA generativa, en tu profesión específica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2212848"/>
            <a:ext cx="2880360" cy="1051560"/>
          </a:xfrm>
          <a:prstGeom prst="roundRect">
            <a:avLst>
              <a:gd name="adj" fmla="val 5217"/>
            </a:avLst>
          </a:prstGeom>
          <a:solidFill>
            <a:srgbClr val="2596B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2880360" cy="2651760"/>
          </a:xfrm>
          <a:prstGeom prst="roundRect">
            <a:avLst>
              <a:gd name="adj" fmla="val 2069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67512" y="3493008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/ ENTREGABLES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67512" y="3794760"/>
            <a:ext cx="2551176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Profesión actual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semanal disponible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concretos (+30% ingresos, -10h manual)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1430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 PRINCIPAL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1399032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una hoja de ruta de 8+ semanas para dominar IA generativa aplicada a la profesión del usuario.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3611880" y="2212848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776472" y="2304288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1-2 — FUNDAMENTOS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776472" y="2560320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 óptimas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11880" y="3200400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3776472" y="3291840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3-4 — AUTOMATIZACIONES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76472" y="3547872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básicos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611880" y="4187952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3776472" y="4279392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5-6 — PROMPT ENGINEERING AVANZADO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776472" y="4535424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actuales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611880" y="5175504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776472" y="5266944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7-8 — INTEGRACIONES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776472" y="5522976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herramientas, multi-modelo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11880" y="6163056"/>
            <a:ext cx="8046720" cy="841248"/>
          </a:xfrm>
          <a:prstGeom prst="roundRect">
            <a:avLst>
              <a:gd name="adj" fmla="val 6522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776472" y="6254496"/>
            <a:ext cx="7717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259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9+ — PROYECTOS REALES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776472" y="6510528"/>
            <a:ext cx="77175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generen dinero, tiempo o impacto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11880" y="7232904"/>
            <a:ext cx="8046720" cy="777240"/>
          </a:xfrm>
          <a:prstGeom prst="roundRect">
            <a:avLst>
              <a:gd name="adj" fmla="val 7059"/>
            </a:avLst>
          </a:prstGeom>
          <a:solidFill>
            <a:srgbClr val="EAF3F8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794760" y="732434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70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semana incluye tareas diarias, recursos clave, mini-proyectos y métricas de progreso. Resultados esperados: +30% ingresos, -10h de trabajo manual.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64008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Usar Estos Prompts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394960" y="1417320"/>
            <a:ext cx="1371600" cy="0"/>
          </a:xfrm>
          <a:prstGeom prst="line">
            <a:avLst/>
          </a:prstGeom>
          <a:noFill/>
          <a:ln w="254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2"/>
          <p:cNvSpPr/>
          <p:nvPr/>
        </p:nvSpPr>
        <p:spPr>
          <a:xfrm>
            <a:off x="777240" y="18745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3"/>
          <p:cNvSpPr/>
          <p:nvPr/>
        </p:nvSpPr>
        <p:spPr>
          <a:xfrm>
            <a:off x="1005840" y="2057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100584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 el prompt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0584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según tu objetivo: análisis, acción, innovación o desarrollo profesional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89120" y="18745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4617720" y="2057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461772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61772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 en NotebookLM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461772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tus fuentes y aplica el prompt para obtener análisis profundo con IA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8001000" y="1874520"/>
            <a:ext cx="3429000" cy="1554480"/>
          </a:xfrm>
          <a:prstGeom prst="roundRect">
            <a:avLst>
              <a:gd name="adj" fmla="val 4118"/>
            </a:avLst>
          </a:prstGeom>
          <a:solidFill>
            <a:srgbClr val="F4F8FB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8229600" y="20574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96B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82296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229600" y="2697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y obtén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2296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el contexto a tu situación y recibe insights de nivel experto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77240" y="370332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F4F8FB"/>
          </a:solidFill>
          <a:ln w="12700">
            <a:solidFill>
              <a:srgbClr val="1B709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105156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Domina el Análisis Avanzado con IA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51560" y="42062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 especializados para investigación, estrategia y desarrollo profesional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863840" y="397764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FF6FA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7863840" y="39684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Frameworks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9464040" y="39776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FF6FA"/>
          </a:solidFill>
          <a:ln w="9525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3"/>
          <p:cNvSpPr/>
          <p:nvPr/>
        </p:nvSpPr>
        <p:spPr>
          <a:xfrm>
            <a:off x="9464040" y="39684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Categorías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77240" y="51206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material acompaña la sesión práctica de NotebookLM del curso de Planeación Institucional — UDES.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2504</Words>
  <Application>Microsoft Office PowerPoint</Application>
  <PresentationFormat>Panorámica</PresentationFormat>
  <Paragraphs>495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Prompts Avanzados para NotebookLM</dc:title>
  <dc:subject>PptxGenJS Presentation</dc:subject>
  <dc:creator>PLI - UDES</dc:creator>
  <cp:lastModifiedBy>Profesional de Investigación de Mercados</cp:lastModifiedBy>
  <cp:revision>2</cp:revision>
  <dcterms:created xsi:type="dcterms:W3CDTF">2026-07-08T14:57:58Z</dcterms:created>
  <dcterms:modified xsi:type="dcterms:W3CDTF">2026-07-08T15:22:04Z</dcterms:modified>
</cp:coreProperties>
</file>